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7548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F06A"/>
                </a:solidFill>
                <a:latin typeface="Consolas"/>
              </a:rPr>
              <a:t>CODECRAFT CHALLENGE     /     DHSGU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4358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8C8BF"/>
                </a:solidFill>
                <a:latin typeface="Consolas"/>
              </a:rPr>
              <a:t>CAMPUS TRANSIT,
MADE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83664"/>
            <a:ext cx="557784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5F6EF"/>
                </a:solidFill>
                <a:latin typeface="Bahnschrift SemiBold"/>
              </a:rPr>
              <a:t>DHSGU Campus
Bus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502152"/>
            <a:ext cx="5394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BE5DE"/>
                </a:solidFill>
                <a:latin typeface="Aptos"/>
              </a:rPr>
              <a:t>Real-Time Transit &amp; AI Navigation for
Dr. Harisingh Gour University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4608576"/>
            <a:ext cx="4690872" cy="0"/>
          </a:xfrm>
          <a:prstGeom prst="line">
            <a:avLst/>
          </a:prstGeom>
          <a:ln w="13970">
            <a:solidFill>
              <a:srgbClr val="35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4791456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93A79C"/>
                </a:solidFill>
                <a:latin typeface="Consola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102352"/>
            <a:ext cx="34747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6EF"/>
                </a:solidFill>
                <a:latin typeface="Aptos"/>
              </a:rPr>
              <a:t>Suvam  ·  BCA Undergraduate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5815584"/>
            <a:ext cx="1828800" cy="256032"/>
          </a:xfrm>
          <a:prstGeom prst="roundRect">
            <a:avLst>
              <a:gd name="adj" fmla="val 6000"/>
            </a:avLst>
          </a:prstGeom>
          <a:solidFill>
            <a:srgbClr val="D8F06A"/>
          </a:solidFill>
          <a:ln w="1016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3" y="5856732"/>
            <a:ext cx="16642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02A24"/>
                </a:solidFill>
                <a:latin typeface="Consolas"/>
              </a:rPr>
              <a:t>LIVE DEMO PROTOTYPE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438912"/>
            <a:ext cx="5010912" cy="5824728"/>
          </a:xfrm>
          <a:prstGeom prst="rect">
            <a:avLst/>
          </a:prstGeom>
          <a:solidFill>
            <a:srgbClr val="1C3931"/>
          </a:solidFill>
          <a:ln w="10160">
            <a:solidFill>
              <a:srgbClr val="1C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345244" y="475488"/>
            <a:ext cx="237744" cy="575157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923929" y="475488"/>
            <a:ext cx="137160" cy="575157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6933" y="475488"/>
            <a:ext cx="237744" cy="575157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355618" y="475488"/>
            <a:ext cx="137160" cy="575157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08622" y="475488"/>
            <a:ext cx="237744" cy="575157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787307" y="475488"/>
            <a:ext cx="137160" cy="575157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656832" y="1208532"/>
            <a:ext cx="4956048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56832" y="2380488"/>
            <a:ext cx="4956048" cy="1097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56832" y="3150108"/>
            <a:ext cx="4956048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56832" y="4322064"/>
            <a:ext cx="4956048" cy="1097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56832" y="5091684"/>
            <a:ext cx="4956048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381036" y="1254373"/>
            <a:ext cx="526145" cy="757214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83437" y="4050243"/>
            <a:ext cx="526145" cy="757214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85838" y="1254373"/>
            <a:ext cx="526145" cy="757214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688238" y="4050243"/>
            <a:ext cx="526145" cy="757214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 flipV="1">
            <a:off x="7132320" y="4343400"/>
            <a:ext cx="758952" cy="841248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32320" y="4343400"/>
            <a:ext cx="758952" cy="841248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461504" y="3593592"/>
            <a:ext cx="429768" cy="749808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461504" y="3593592"/>
            <a:ext cx="429768" cy="749808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461504" y="2761488"/>
            <a:ext cx="859536" cy="832104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461504" y="2761488"/>
            <a:ext cx="859536" cy="832104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21040" y="2761488"/>
            <a:ext cx="1088136" cy="246888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21040" y="2761488"/>
            <a:ext cx="1088136" cy="246888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409176" y="1947672"/>
            <a:ext cx="786384" cy="1060704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409176" y="1947672"/>
            <a:ext cx="786384" cy="1060704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195560" y="1371600"/>
            <a:ext cx="795528" cy="576072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0195560" y="1371600"/>
            <a:ext cx="795528" cy="576072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063740" y="5116068"/>
            <a:ext cx="137160" cy="137160"/>
          </a:xfrm>
          <a:prstGeom prst="ellipse">
            <a:avLst/>
          </a:prstGeom>
          <a:solidFill>
            <a:srgbClr val="245641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822692" y="427482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392924" y="3525012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252460" y="2692908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340596" y="2939796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126980" y="1879091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922508" y="1303020"/>
            <a:ext cx="137160" cy="137160"/>
          </a:xfrm>
          <a:prstGeom prst="ellipse">
            <a:avLst/>
          </a:prstGeom>
          <a:solidFill>
            <a:srgbClr val="E96C50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022592" y="5074920"/>
            <a:ext cx="219456" cy="219456"/>
          </a:xfrm>
          <a:prstGeom prst="ellipse">
            <a:avLst/>
          </a:prstGeom>
          <a:solidFill>
            <a:srgbClr val="102A24"/>
          </a:solidFill>
          <a:ln w="1905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59168" y="511149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F6EF"/>
                </a:solidFill>
                <a:latin typeface="Consolas"/>
              </a:rPr>
              <a:t>1</a:t>
            </a:r>
          </a:p>
        </p:txBody>
      </p:sp>
      <p:sp>
        <p:nvSpPr>
          <p:cNvPr id="48" name="Oval 47"/>
          <p:cNvSpPr/>
          <p:nvPr/>
        </p:nvSpPr>
        <p:spPr>
          <a:xfrm>
            <a:off x="7781544" y="4233672"/>
            <a:ext cx="219456" cy="219456"/>
          </a:xfrm>
          <a:prstGeom prst="ellipse">
            <a:avLst/>
          </a:prstGeom>
          <a:solidFill>
            <a:srgbClr val="102A24"/>
          </a:solidFill>
          <a:ln w="1905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18120" y="42702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F6EF"/>
                </a:solidFill>
                <a:latin typeface="Consolas"/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7351776" y="3483864"/>
            <a:ext cx="219456" cy="219456"/>
          </a:xfrm>
          <a:prstGeom prst="ellipse">
            <a:avLst/>
          </a:prstGeom>
          <a:solidFill>
            <a:srgbClr val="102A24"/>
          </a:solidFill>
          <a:ln w="1905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88352" y="352044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F6EF"/>
                </a:solidFill>
                <a:latin typeface="Consolas"/>
              </a:rPr>
              <a:t>3</a:t>
            </a:r>
          </a:p>
        </p:txBody>
      </p:sp>
      <p:sp>
        <p:nvSpPr>
          <p:cNvPr id="52" name="Oval 51"/>
          <p:cNvSpPr/>
          <p:nvPr/>
        </p:nvSpPr>
        <p:spPr>
          <a:xfrm>
            <a:off x="8211312" y="2651760"/>
            <a:ext cx="219456" cy="219456"/>
          </a:xfrm>
          <a:prstGeom prst="ellipse">
            <a:avLst/>
          </a:prstGeom>
          <a:solidFill>
            <a:srgbClr val="102A24"/>
          </a:solidFill>
          <a:ln w="1905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47888" y="268833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F6EF"/>
                </a:solidFill>
                <a:latin typeface="Consolas"/>
              </a:rPr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9299448" y="2898648"/>
            <a:ext cx="219456" cy="219456"/>
          </a:xfrm>
          <a:prstGeom prst="ellipse">
            <a:avLst/>
          </a:prstGeom>
          <a:solidFill>
            <a:srgbClr val="102A24"/>
          </a:solidFill>
          <a:ln w="1905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36024" y="293522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F6EF"/>
                </a:solidFill>
                <a:latin typeface="Consolas"/>
              </a:rPr>
              <a:t>5</a:t>
            </a:r>
          </a:p>
        </p:txBody>
      </p:sp>
      <p:sp>
        <p:nvSpPr>
          <p:cNvPr id="56" name="Oval 55"/>
          <p:cNvSpPr/>
          <p:nvPr/>
        </p:nvSpPr>
        <p:spPr>
          <a:xfrm>
            <a:off x="10085832" y="1837943"/>
            <a:ext cx="219456" cy="219456"/>
          </a:xfrm>
          <a:prstGeom prst="ellipse">
            <a:avLst/>
          </a:prstGeom>
          <a:solidFill>
            <a:srgbClr val="102A24"/>
          </a:solidFill>
          <a:ln w="1905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122408" y="1874519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F6EF"/>
                </a:solidFill>
                <a:latin typeface="Consolas"/>
              </a:rPr>
              <a:t>6</a:t>
            </a:r>
          </a:p>
        </p:txBody>
      </p:sp>
      <p:sp>
        <p:nvSpPr>
          <p:cNvPr id="58" name="Oval 57"/>
          <p:cNvSpPr/>
          <p:nvPr/>
        </p:nvSpPr>
        <p:spPr>
          <a:xfrm>
            <a:off x="10881360" y="1261872"/>
            <a:ext cx="219456" cy="219456"/>
          </a:xfrm>
          <a:prstGeom prst="ellipse">
            <a:avLst/>
          </a:prstGeom>
          <a:solidFill>
            <a:srgbClr val="102A24"/>
          </a:solidFill>
          <a:ln w="1905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917936" y="12984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5F6EF"/>
                </a:solidFill>
                <a:latin typeface="Consolas"/>
              </a:rPr>
              <a:t>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09760" y="5907024"/>
            <a:ext cx="1755648" cy="256032"/>
          </a:xfrm>
          <a:prstGeom prst="roundRect">
            <a:avLst>
              <a:gd name="adj" fmla="val 6000"/>
            </a:avLst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592056" y="5948172"/>
            <a:ext cx="1591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5F6EF"/>
                </a:solidFill>
                <a:latin typeface="Consolas"/>
              </a:rPr>
              <a:t>7 STOPS  /  ONE LOOP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35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3887F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3887F"/>
                </a:solidFill>
                <a:latin typeface="Consola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CODECRAFT  /  DHSGU TRANSIT      01  /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42D"/>
                </a:solidFill>
                <a:latin typeface="Bahnschrift SemiBold"/>
              </a:rPr>
              <a:t>A campus shouldn't run on guesswork.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Three everyday frictions, one missing layer of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48256"/>
            <a:ext cx="3456432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2048256"/>
            <a:ext cx="3456432" cy="82296"/>
          </a:xfrm>
          <a:prstGeom prst="rect">
            <a:avLst/>
          </a:prstGeom>
          <a:solidFill>
            <a:srgbClr val="3677F5"/>
          </a:solidFill>
          <a:ln w="1016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35000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3677F5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53512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42D"/>
                </a:solidFill>
                <a:latin typeface="Bahnschrift SemiBold"/>
              </a:rPr>
              <a:t>The invisible 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758184"/>
            <a:ext cx="2944368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Students and staff wait without a reliable view of where the campus bus is or when it may arrive.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5528" y="5001768"/>
            <a:ext cx="2971800" cy="0"/>
          </a:xfrm>
          <a:prstGeom prst="line">
            <a:avLst/>
          </a:prstGeom>
          <a:ln w="1016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5528" y="514807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677F5"/>
                </a:solidFill>
                <a:latin typeface="Consolas"/>
              </a:rPr>
              <a:t>NO LIVE VISIBILITY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48256"/>
            <a:ext cx="3456432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2048256"/>
            <a:ext cx="3456432" cy="82296"/>
          </a:xfrm>
          <a:prstGeom prst="rect">
            <a:avLst/>
          </a:prstGeom>
          <a:solidFill>
            <a:srgbClr val="E96C50"/>
          </a:solidFill>
          <a:ln w="10160">
            <a:solidFill>
              <a:srgbClr val="E96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35000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E96C50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953512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42D"/>
                </a:solidFill>
                <a:latin typeface="Bahnschrift SemiBold"/>
              </a:rPr>
              <a:t>The unfamiliar campus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758184"/>
            <a:ext cx="2944368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Newcomers must connect a large campus across Valley Campus, hostels and academic departments.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26280" y="5001768"/>
            <a:ext cx="2971799" cy="0"/>
          </a:xfrm>
          <a:prstGeom prst="line">
            <a:avLst/>
          </a:prstGeom>
          <a:ln w="1016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26280" y="514807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96C50"/>
                </a:solidFill>
                <a:latin typeface="Consolas"/>
              </a:rPr>
              <a:t>WAYFINDING FRICTION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1" y="2048256"/>
            <a:ext cx="3456432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1" y="2048256"/>
            <a:ext cx="3456432" cy="82296"/>
          </a:xfrm>
          <a:prstGeom prst="rect">
            <a:avLst/>
          </a:prstGeom>
          <a:solidFill>
            <a:srgbClr val="245641"/>
          </a:solidFill>
          <a:ln w="1016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235000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45641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953512"/>
            <a:ext cx="296265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42D"/>
                </a:solidFill>
                <a:latin typeface="Bahnschrift SemiBold"/>
              </a:rPr>
              <a:t>The wrong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758184"/>
            <a:ext cx="2944368" cy="104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Generic maps do not carry campus-specific itineraries or a channel for driver-posted updates.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57031" y="5001768"/>
            <a:ext cx="2971801" cy="0"/>
          </a:xfrm>
          <a:prstGeom prst="line">
            <a:avLst/>
          </a:prstGeom>
          <a:ln w="1016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57031" y="5148072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5641"/>
                </a:solidFill>
                <a:latin typeface="Consolas"/>
              </a:rPr>
              <a:t>NO CAMPUS 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696712"/>
            <a:ext cx="10917936" cy="457200"/>
          </a:xfrm>
          <a:prstGeom prst="rect">
            <a:avLst/>
          </a:prstGeom>
          <a:solidFill>
            <a:srgbClr val="18342D"/>
          </a:solidFill>
          <a:ln w="10160">
            <a:solidFill>
              <a:srgbClr val="18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797296"/>
            <a:ext cx="10469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F6EF"/>
                </a:solidFill>
                <a:latin typeface="Aptos"/>
              </a:rPr>
              <a:t>THE GAP: one trusted view of routes, live movement and campus knowledge.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9890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9890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CODECRAFT  /  DHSGU TRANSIT      02  /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42D"/>
                </a:solidFill>
                <a:latin typeface="Bahnschrift SemiBold"/>
              </a:rPr>
              <a:t>One campus. Seven stops. One live picture.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A single web experience brings transit, campus landmarks and guided answers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75104"/>
            <a:ext cx="4736592" cy="4224528"/>
          </a:xfrm>
          <a:prstGeom prst="rect">
            <a:avLst/>
          </a:prstGeom>
          <a:solidFill>
            <a:srgbClr val="102A24"/>
          </a:solidFill>
          <a:ln w="10160">
            <a:solidFill>
              <a:srgbClr val="10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4" y="2267712"/>
            <a:ext cx="4206240" cy="3355848"/>
          </a:xfrm>
          <a:prstGeom prst="rect">
            <a:avLst/>
          </a:prstGeom>
          <a:solidFill>
            <a:srgbClr val="1C3931"/>
          </a:solidFill>
          <a:ln w="10160">
            <a:solidFill>
              <a:srgbClr val="1C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1432995" y="2304288"/>
            <a:ext cx="237744" cy="328269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896726" y="2304288"/>
            <a:ext cx="137160" cy="328269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34778" y="2304288"/>
            <a:ext cx="237744" cy="328269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098509" y="2304288"/>
            <a:ext cx="137160" cy="328269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36561" y="2304288"/>
            <a:ext cx="237744" cy="328269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300292" y="2304288"/>
            <a:ext cx="137160" cy="328269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59536" y="2625852"/>
            <a:ext cx="4151376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9536" y="3386328"/>
            <a:ext cx="4151376" cy="1097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59536" y="3744468"/>
            <a:ext cx="4151376" cy="201167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536" y="4504944"/>
            <a:ext cx="4151376" cy="1097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59536" y="4863084"/>
            <a:ext cx="4151376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463040" y="2737530"/>
            <a:ext cx="441655" cy="436260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88412" y="4348337"/>
            <a:ext cx="441655" cy="436260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13785" y="2737530"/>
            <a:ext cx="441655" cy="436260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39158" y="4348337"/>
            <a:ext cx="441655" cy="436260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1417320" y="4517136"/>
            <a:ext cx="594360" cy="566928"/>
          </a:xfrm>
          <a:prstGeom prst="line">
            <a:avLst/>
          </a:prstGeom>
          <a:ln w="114300">
            <a:solidFill>
              <a:srgbClr val="D5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417320" y="4517136"/>
            <a:ext cx="594360" cy="566928"/>
          </a:xfrm>
          <a:prstGeom prst="line">
            <a:avLst/>
          </a:prstGeom>
          <a:ln w="635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783080" y="3904487"/>
            <a:ext cx="228600" cy="612649"/>
          </a:xfrm>
          <a:prstGeom prst="line">
            <a:avLst/>
          </a:prstGeom>
          <a:ln w="114300">
            <a:solidFill>
              <a:srgbClr val="D5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1783080" y="3904487"/>
            <a:ext cx="228600" cy="612649"/>
          </a:xfrm>
          <a:prstGeom prst="line">
            <a:avLst/>
          </a:prstGeom>
          <a:ln w="635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783080" y="3557016"/>
            <a:ext cx="795528" cy="347471"/>
          </a:xfrm>
          <a:prstGeom prst="line">
            <a:avLst/>
          </a:prstGeom>
          <a:ln w="114300">
            <a:solidFill>
              <a:srgbClr val="D5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783080" y="3557016"/>
            <a:ext cx="795528" cy="347471"/>
          </a:xfrm>
          <a:prstGeom prst="line">
            <a:avLst/>
          </a:prstGeom>
          <a:ln w="635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78608" y="3557016"/>
            <a:ext cx="758952" cy="329184"/>
          </a:xfrm>
          <a:prstGeom prst="line">
            <a:avLst/>
          </a:prstGeom>
          <a:ln w="114300">
            <a:solidFill>
              <a:srgbClr val="D5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78608" y="3557016"/>
            <a:ext cx="758952" cy="329184"/>
          </a:xfrm>
          <a:prstGeom prst="line">
            <a:avLst/>
          </a:prstGeom>
          <a:ln w="635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337560" y="3017520"/>
            <a:ext cx="731520" cy="868680"/>
          </a:xfrm>
          <a:prstGeom prst="line">
            <a:avLst/>
          </a:prstGeom>
          <a:ln w="114300">
            <a:solidFill>
              <a:srgbClr val="D5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337560" y="3017520"/>
            <a:ext cx="731520" cy="868680"/>
          </a:xfrm>
          <a:prstGeom prst="line">
            <a:avLst/>
          </a:prstGeom>
          <a:ln w="635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069080" y="2724912"/>
            <a:ext cx="457200" cy="292608"/>
          </a:xfrm>
          <a:prstGeom prst="line">
            <a:avLst/>
          </a:prstGeom>
          <a:ln w="114300">
            <a:solidFill>
              <a:srgbClr val="D5E2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069080" y="2724912"/>
            <a:ext cx="457200" cy="292608"/>
          </a:xfrm>
          <a:prstGeom prst="line">
            <a:avLst/>
          </a:prstGeom>
          <a:ln w="635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348740" y="5015483"/>
            <a:ext cx="137160" cy="137160"/>
          </a:xfrm>
          <a:prstGeom prst="ellipse">
            <a:avLst/>
          </a:prstGeom>
          <a:solidFill>
            <a:srgbClr val="245641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943100" y="4448556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714500" y="3835907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510027" y="3488436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268979" y="381762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000500" y="2948939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457700" y="2656332"/>
            <a:ext cx="137160" cy="137160"/>
          </a:xfrm>
          <a:prstGeom prst="ellipse">
            <a:avLst/>
          </a:prstGeom>
          <a:solidFill>
            <a:srgbClr val="E96C50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9264" y="5751576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B8C8BF"/>
                </a:solidFill>
                <a:latin typeface="Consolas"/>
              </a:rPr>
              <a:t>ILLUSTRATIVE CAMPUS LOOP  /  DEMO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2029968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5641"/>
                </a:solidFill>
                <a:latin typeface="Consolas"/>
              </a:rPr>
              <a:t>THE CAMPUS CIRCLE  ·  7 DEMO STOPS</a:t>
            </a:r>
          </a:p>
        </p:txBody>
      </p:sp>
      <p:sp>
        <p:nvSpPr>
          <p:cNvPr id="43" name="Oval 42"/>
          <p:cNvSpPr/>
          <p:nvPr/>
        </p:nvSpPr>
        <p:spPr>
          <a:xfrm>
            <a:off x="5733288" y="2551176"/>
            <a:ext cx="182880" cy="182880"/>
          </a:xfrm>
          <a:prstGeom prst="ellipse">
            <a:avLst/>
          </a:prstGeom>
          <a:solidFill>
            <a:srgbClr val="245641"/>
          </a:solidFill>
          <a:ln w="1397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16752" y="2519172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8342D"/>
                </a:solidFill>
                <a:latin typeface="Aptos"/>
              </a:rPr>
              <a:t>Vivekanand Boys Hostel</a:t>
            </a:r>
          </a:p>
        </p:txBody>
      </p:sp>
      <p:sp>
        <p:nvSpPr>
          <p:cNvPr id="45" name="Oval 44"/>
          <p:cNvSpPr/>
          <p:nvPr/>
        </p:nvSpPr>
        <p:spPr>
          <a:xfrm>
            <a:off x="5733288" y="2971800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16752" y="2939796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342D"/>
                </a:solidFill>
                <a:latin typeface="Aptos"/>
              </a:rPr>
              <a:t>Rani Laxmi Bai Girls Hostel</a:t>
            </a:r>
          </a:p>
        </p:txBody>
      </p:sp>
      <p:sp>
        <p:nvSpPr>
          <p:cNvPr id="47" name="Oval 46"/>
          <p:cNvSpPr/>
          <p:nvPr/>
        </p:nvSpPr>
        <p:spPr>
          <a:xfrm>
            <a:off x="5733288" y="3392424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16752" y="336042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342D"/>
                </a:solidFill>
                <a:latin typeface="Aptos"/>
              </a:rPr>
              <a:t>Institute of Engineering and Technology</a:t>
            </a:r>
          </a:p>
        </p:txBody>
      </p:sp>
      <p:sp>
        <p:nvSpPr>
          <p:cNvPr id="49" name="Oval 48"/>
          <p:cNvSpPr/>
          <p:nvPr/>
        </p:nvSpPr>
        <p:spPr>
          <a:xfrm>
            <a:off x="5733288" y="3813048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16752" y="378104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342D"/>
                </a:solidFill>
                <a:latin typeface="Aptos"/>
              </a:rPr>
              <a:t>Computer Science &amp; Applications</a:t>
            </a:r>
          </a:p>
        </p:txBody>
      </p:sp>
      <p:sp>
        <p:nvSpPr>
          <p:cNvPr id="51" name="Oval 50"/>
          <p:cNvSpPr/>
          <p:nvPr/>
        </p:nvSpPr>
        <p:spPr>
          <a:xfrm>
            <a:off x="5733288" y="4233672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16752" y="4201668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342D"/>
                </a:solidFill>
                <a:latin typeface="Aptos"/>
              </a:rPr>
              <a:t>Criminology &amp; Forensic</a:t>
            </a:r>
          </a:p>
        </p:txBody>
      </p:sp>
      <p:sp>
        <p:nvSpPr>
          <p:cNvPr id="53" name="Oval 52"/>
          <p:cNvSpPr/>
          <p:nvPr/>
        </p:nvSpPr>
        <p:spPr>
          <a:xfrm>
            <a:off x="5733288" y="4654296"/>
            <a:ext cx="182880" cy="18288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16752" y="4622292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8342D"/>
                </a:solidFill>
                <a:latin typeface="Aptos"/>
              </a:rPr>
              <a:t>Nivedita Girls Hostel</a:t>
            </a:r>
          </a:p>
        </p:txBody>
      </p:sp>
      <p:sp>
        <p:nvSpPr>
          <p:cNvPr id="55" name="Oval 54"/>
          <p:cNvSpPr/>
          <p:nvPr/>
        </p:nvSpPr>
        <p:spPr>
          <a:xfrm>
            <a:off x="5733288" y="5074920"/>
            <a:ext cx="182880" cy="182880"/>
          </a:xfrm>
          <a:prstGeom prst="ellipse">
            <a:avLst/>
          </a:prstGeom>
          <a:solidFill>
            <a:srgbClr val="E96C50"/>
          </a:solidFill>
          <a:ln w="1397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16752" y="5042916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8342D"/>
                </a:solidFill>
                <a:latin typeface="Aptos"/>
              </a:rPr>
              <a:t>Jawaharlal Nehru Central Library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5000" y="5596128"/>
            <a:ext cx="5440680" cy="521207"/>
          </a:xfrm>
          <a:prstGeom prst="rect">
            <a:avLst/>
          </a:prstGeom>
          <a:solidFill>
            <a:srgbClr val="FFF1D7"/>
          </a:solidFill>
          <a:ln w="10160">
            <a:solidFill>
              <a:srgbClr val="F0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16168" y="571500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745B29"/>
                </a:solidFill>
                <a:latin typeface="Aptos"/>
              </a:rPr>
              <a:t>Route, schedule &amp; coordinates are demonstration data, not official service.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9890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9890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CODECRAFT  /  DHSGU TRANSIT      03  /  LIVE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42D"/>
                </a:solidFill>
                <a:latin typeface="Bahnschrift SemiBold"/>
              </a:rPr>
              <a:t>The map is the interface.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A Google-style light map pairs campus routing with a scannable stop-by-stop itinerary.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38528"/>
            <a:ext cx="7040880" cy="4251960"/>
          </a:xfrm>
          <a:prstGeom prst="rect">
            <a:avLst/>
          </a:prstGeom>
          <a:solidFill>
            <a:srgbClr val="EDF1E9"/>
          </a:solidFill>
          <a:ln w="10160">
            <a:solidFill>
              <a:srgbClr val="E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572768" y="1975104"/>
            <a:ext cx="237744" cy="417880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441448" y="1975104"/>
            <a:ext cx="137160" cy="417880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84448" y="1975104"/>
            <a:ext cx="237744" cy="417880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4453128" y="1975104"/>
            <a:ext cx="137160" cy="417880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96128" y="1975104"/>
            <a:ext cx="237744" cy="417880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464808" y="1975104"/>
            <a:ext cx="137160" cy="417880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94360" y="2446020"/>
            <a:ext cx="6986016" cy="20116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" y="3355848"/>
            <a:ext cx="6986016" cy="10972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94360" y="3863340"/>
            <a:ext cx="6986016" cy="20116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" y="4773168"/>
            <a:ext cx="6986016" cy="10972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94360" y="5280660"/>
            <a:ext cx="6986016" cy="20116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23060" y="2533802"/>
            <a:ext cx="739292" cy="552754"/>
          </a:xfrm>
          <a:prstGeom prst="rect">
            <a:avLst/>
          </a:prstGeom>
          <a:solidFill>
            <a:srgbClr val="E3E9E0"/>
          </a:solidFill>
          <a:ln w="10160">
            <a:solidFill>
              <a:srgbClr val="E3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72053" y="4574743"/>
            <a:ext cx="739292" cy="552754"/>
          </a:xfrm>
          <a:prstGeom prst="rect">
            <a:avLst/>
          </a:prstGeom>
          <a:solidFill>
            <a:srgbClr val="E3E9E0"/>
          </a:solidFill>
          <a:ln w="10160">
            <a:solidFill>
              <a:srgbClr val="E3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21047" y="2533802"/>
            <a:ext cx="739292" cy="552754"/>
          </a:xfrm>
          <a:prstGeom prst="rect">
            <a:avLst/>
          </a:prstGeom>
          <a:solidFill>
            <a:srgbClr val="E3E9E0"/>
          </a:solidFill>
          <a:ln w="10160">
            <a:solidFill>
              <a:srgbClr val="E3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70040" y="4574743"/>
            <a:ext cx="739292" cy="552754"/>
          </a:xfrm>
          <a:prstGeom prst="rect">
            <a:avLst/>
          </a:prstGeom>
          <a:solidFill>
            <a:srgbClr val="E3E9E0"/>
          </a:solidFill>
          <a:ln w="10160">
            <a:solidFill>
              <a:srgbClr val="E3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 flipV="1">
            <a:off x="978408" y="2304288"/>
            <a:ext cx="5639019" cy="3520440"/>
          </a:xfrm>
          <a:prstGeom prst="line">
            <a:avLst/>
          </a:prstGeom>
          <a:ln w="139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78408" y="2304288"/>
            <a:ext cx="5639019" cy="3520440"/>
          </a:xfrm>
          <a:prstGeom prst="line">
            <a:avLst/>
          </a:prstGeom>
          <a:ln w="88900">
            <a:solidFill>
              <a:srgbClr val="36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569185" y="2304288"/>
            <a:ext cx="48242" cy="2106393"/>
          </a:xfrm>
          <a:prstGeom prst="line">
            <a:avLst/>
          </a:prstGeom>
          <a:ln w="139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569185" y="2304288"/>
            <a:ext cx="48242" cy="2106393"/>
          </a:xfrm>
          <a:prstGeom prst="line">
            <a:avLst/>
          </a:prstGeom>
          <a:ln w="88900">
            <a:solidFill>
              <a:srgbClr val="36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69185" y="4410681"/>
            <a:ext cx="192967" cy="138124"/>
          </a:xfrm>
          <a:prstGeom prst="line">
            <a:avLst/>
          </a:prstGeom>
          <a:ln w="139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69185" y="4410681"/>
            <a:ext cx="192967" cy="138124"/>
          </a:xfrm>
          <a:prstGeom prst="line">
            <a:avLst/>
          </a:prstGeom>
          <a:ln w="88900">
            <a:solidFill>
              <a:srgbClr val="36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762152" y="4548805"/>
            <a:ext cx="434176" cy="483435"/>
          </a:xfrm>
          <a:prstGeom prst="line">
            <a:avLst/>
          </a:prstGeom>
          <a:ln w="139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62152" y="4548805"/>
            <a:ext cx="434176" cy="483435"/>
          </a:xfrm>
          <a:prstGeom prst="line">
            <a:avLst/>
          </a:prstGeom>
          <a:ln w="88900">
            <a:solidFill>
              <a:srgbClr val="36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5990285" y="2580536"/>
            <a:ext cx="1206043" cy="2451704"/>
          </a:xfrm>
          <a:prstGeom prst="line">
            <a:avLst/>
          </a:prstGeom>
          <a:ln w="139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990285" y="2580536"/>
            <a:ext cx="1206043" cy="2451704"/>
          </a:xfrm>
          <a:prstGeom prst="line">
            <a:avLst/>
          </a:prstGeom>
          <a:ln w="88900">
            <a:solidFill>
              <a:srgbClr val="36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359083" y="2580536"/>
            <a:ext cx="4631202" cy="759683"/>
          </a:xfrm>
          <a:prstGeom prst="line">
            <a:avLst/>
          </a:prstGeom>
          <a:ln w="139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359083" y="2580536"/>
            <a:ext cx="4631202" cy="759683"/>
          </a:xfrm>
          <a:prstGeom prst="line">
            <a:avLst/>
          </a:prstGeom>
          <a:ln w="88900">
            <a:solidFill>
              <a:srgbClr val="367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09828" y="5756148"/>
            <a:ext cx="137160" cy="137160"/>
          </a:xfrm>
          <a:prstGeom prst="ellipse">
            <a:avLst/>
          </a:prstGeom>
          <a:solidFill>
            <a:srgbClr val="245641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48847" y="2235708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00605" y="4342101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693572" y="4480225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127748" y="496366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21705" y="2511956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290503" y="3271639"/>
            <a:ext cx="137160" cy="137160"/>
          </a:xfrm>
          <a:prstGeom prst="ellipse">
            <a:avLst/>
          </a:prstGeom>
          <a:solidFill>
            <a:srgbClr val="E96C50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2" y="213969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45641"/>
                </a:solidFill>
                <a:latin typeface="Consolas"/>
              </a:rPr>
              <a:t>CAMPUS CIRCLE  /  DEMO</a:t>
            </a:r>
          </a:p>
        </p:txBody>
      </p:sp>
      <p:sp>
        <p:nvSpPr>
          <p:cNvPr id="41" name="Oval 40"/>
          <p:cNvSpPr/>
          <p:nvPr/>
        </p:nvSpPr>
        <p:spPr>
          <a:xfrm>
            <a:off x="6851224" y="4662507"/>
            <a:ext cx="256032" cy="256032"/>
          </a:xfrm>
          <a:prstGeom prst="ellipse">
            <a:avLst/>
          </a:prstGeom>
          <a:solidFill>
            <a:srgbClr val="3677F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28948" y="4740231"/>
            <a:ext cx="100584" cy="1005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Consolas"/>
              </a:rPr>
              <a:t>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1938528"/>
            <a:ext cx="3813048" cy="4251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83296" y="2194560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ITINERARY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3296" y="2542032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42D"/>
                </a:solidFill>
                <a:latin typeface="Bahnschrift SemiBold"/>
              </a:rPr>
              <a:t>Campus Circle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83296" y="2999232"/>
            <a:ext cx="941832" cy="256032"/>
          </a:xfrm>
          <a:prstGeom prst="roundRect">
            <a:avLst>
              <a:gd name="adj" fmla="val 6000"/>
            </a:avLst>
          </a:prstGeom>
          <a:solidFill>
            <a:srgbClr val="FCECE7"/>
          </a:solidFill>
          <a:ln w="10160">
            <a:solidFill>
              <a:srgbClr val="FCE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65592" y="3040379"/>
            <a:ext cx="777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96C50"/>
                </a:solidFill>
                <a:latin typeface="Consolas"/>
              </a:rPr>
              <a:t>DEMO</a:t>
            </a:r>
          </a:p>
        </p:txBody>
      </p:sp>
      <p:sp>
        <p:nvSpPr>
          <p:cNvPr id="48" name="Oval 47"/>
          <p:cNvSpPr/>
          <p:nvPr/>
        </p:nvSpPr>
        <p:spPr>
          <a:xfrm>
            <a:off x="8138160" y="3525012"/>
            <a:ext cx="118872" cy="118872"/>
          </a:xfrm>
          <a:prstGeom prst="ellipse">
            <a:avLst/>
          </a:prstGeom>
          <a:solidFill>
            <a:srgbClr val="3677F5"/>
          </a:solidFill>
          <a:ln w="1524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85048" y="3493008"/>
            <a:ext cx="2971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8342D"/>
                </a:solidFill>
                <a:latin typeface="Aptos"/>
              </a:rPr>
              <a:t>Vivekanand Boys Hostel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97596" y="3657600"/>
            <a:ext cx="0" cy="265176"/>
          </a:xfrm>
          <a:prstGeom prst="line">
            <a:avLst/>
          </a:prstGeom>
          <a:ln w="12700">
            <a:solidFill>
              <a:srgbClr val="A9B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8138160" y="3945636"/>
            <a:ext cx="118872" cy="1188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85048" y="3913632"/>
            <a:ext cx="2971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8342D"/>
                </a:solidFill>
                <a:latin typeface="Aptos"/>
              </a:rPr>
              <a:t>Institute of Engineering and Technology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197596" y="4078224"/>
            <a:ext cx="0" cy="265176"/>
          </a:xfrm>
          <a:prstGeom prst="line">
            <a:avLst/>
          </a:prstGeom>
          <a:ln w="12700">
            <a:solidFill>
              <a:srgbClr val="A9B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138160" y="4366260"/>
            <a:ext cx="118872" cy="1188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85048" y="4334256"/>
            <a:ext cx="2971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8342D"/>
                </a:solidFill>
                <a:latin typeface="Aptos"/>
              </a:rPr>
              <a:t>Computer Science &amp; Applications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197596" y="4498848"/>
            <a:ext cx="0" cy="265176"/>
          </a:xfrm>
          <a:prstGeom prst="line">
            <a:avLst/>
          </a:prstGeom>
          <a:ln w="12700">
            <a:solidFill>
              <a:srgbClr val="A9B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8138160" y="4786884"/>
            <a:ext cx="118872" cy="118872"/>
          </a:xfrm>
          <a:prstGeom prst="ellipse">
            <a:avLst/>
          </a:prstGeom>
          <a:solidFill>
            <a:srgbClr val="3677F5"/>
          </a:solidFill>
          <a:ln w="1524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85048" y="4754880"/>
            <a:ext cx="2971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8342D"/>
                </a:solidFill>
                <a:latin typeface="Aptos"/>
              </a:rPr>
              <a:t>Central Library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083296" y="5285232"/>
            <a:ext cx="3273552" cy="0"/>
          </a:xfrm>
          <a:prstGeom prst="line">
            <a:avLst/>
          </a:prstGeom>
          <a:ln w="1016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083296" y="544982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87A72"/>
                </a:solidFill>
                <a:latin typeface="Consolas"/>
              </a:rPr>
              <a:t>DISTANCE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83296" y="5715000"/>
            <a:ext cx="13258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1150" b="1">
                <a:solidFill>
                  <a:srgbClr val="18342D"/>
                </a:solidFill>
                <a:latin typeface="Aptos"/>
              </a:rPr>
              <a:t>≈ 4.4 km</a:t>
            </a:r>
            <a:endParaRPr sz="1150" b="1">
              <a:solidFill>
                <a:srgbClr val="18342D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29800" y="544982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87A72"/>
                </a:solidFill>
                <a:latin typeface="Consolas"/>
              </a:rPr>
              <a:t>ETA MODEL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5715000"/>
            <a:ext cx="13716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1150" b="1">
                <a:solidFill>
                  <a:srgbClr val="18342D"/>
                </a:solidFill>
                <a:latin typeface="Aptos"/>
              </a:rPr>
              <a:t>~13 min</a:t>
            </a:r>
            <a:endParaRPr sz="1150" b="1">
              <a:solidFill>
                <a:srgbClr val="18342D"/>
              </a:solidFill>
              <a:latin typeface="Apto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9808" y="6272784"/>
            <a:ext cx="10515600" cy="124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10" b="0">
                <a:solidFill>
                  <a:srgbClr val="687A72"/>
                </a:solidFill>
                <a:latin typeface="Aptos"/>
              </a:rPr>
              <a:t>Illustrative direct fallback for seeded stops. Valid OSRM segments replace fallback distances; ETA assumes 20 km/h, not live traffic.</a:t>
            </a:r>
            <a:endParaRPr sz="810" b="0">
              <a:solidFill>
                <a:srgbClr val="687A72"/>
              </a:solidFill>
              <a:latin typeface="Aptos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9890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9890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8F06A"/>
                </a:solidFill>
                <a:latin typeface="Consolas"/>
              </a:rPr>
              <a:t>CODECRAFT  /  DHSGU TRANSIT      04  /  DRIVER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6EF"/>
                </a:solidFill>
                <a:latin typeface="Bahnschrift SemiBold"/>
              </a:rPr>
              <a:t>A lightweight control room for the route.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8C8BF"/>
                </a:solidFill>
                <a:latin typeface="Aptos"/>
              </a:rPr>
              <a:t>Driver-posted location and status flow back to the passenger 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56816"/>
            <a:ext cx="6784848" cy="4160520"/>
          </a:xfrm>
          <a:prstGeom prst="rect">
            <a:avLst/>
          </a:prstGeom>
          <a:solidFill>
            <a:srgbClr val="F5F6EF"/>
          </a:solidFill>
          <a:ln w="10160">
            <a:solidFill>
              <a:srgbClr val="F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956816"/>
            <a:ext cx="6784848" cy="457200"/>
          </a:xfrm>
          <a:prstGeom prst="rect">
            <a:avLst/>
          </a:prstGeom>
          <a:solidFill>
            <a:srgbClr val="245641"/>
          </a:solidFill>
          <a:ln w="1016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2084831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5F6EF"/>
                </a:solidFill>
                <a:latin typeface="Consolas"/>
              </a:rPr>
              <a:t>DHSGU TRANSIT     /     DRIVER PANEL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98464" y="2057400"/>
            <a:ext cx="1024128" cy="256032"/>
          </a:xfrm>
          <a:prstGeom prst="roundRect">
            <a:avLst>
              <a:gd name="adj" fmla="val 6000"/>
            </a:avLst>
          </a:prstGeom>
          <a:solidFill>
            <a:srgbClr val="D8F06A"/>
          </a:solidFill>
          <a:ln w="1016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59" y="2098548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102A24"/>
                </a:solidFill>
                <a:latin typeface="Consolas"/>
              </a:rPr>
              <a:t>DEMO BUS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0662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87A72"/>
                </a:solidFill>
                <a:latin typeface="Consolas"/>
              </a:rPr>
              <a:t>BUS-101  ·  CAMPUS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44952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8342D"/>
                </a:solidFill>
                <a:latin typeface="Bahnschrift SemiBold"/>
              </a:rPr>
              <a:t>Publish an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6027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87A72"/>
                </a:solidFill>
                <a:latin typeface="Aptos"/>
              </a:rPr>
              <a:t>Driver PIN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3913632"/>
            <a:ext cx="27432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032504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AA9A1"/>
                </a:solidFill>
                <a:latin typeface="Consolas"/>
              </a:rPr>
              <a:t>••••••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60273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87A72"/>
                </a:solidFill>
                <a:latin typeface="Consolas"/>
              </a:rPr>
              <a:t>CURRENT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3913632"/>
            <a:ext cx="1280160" cy="256032"/>
          </a:xfrm>
          <a:prstGeom prst="roundRect">
            <a:avLst>
              <a:gd name="adj" fmla="val 6000"/>
            </a:avLst>
          </a:prstGeom>
          <a:solidFill>
            <a:srgbClr val="E4F1E7"/>
          </a:solidFill>
          <a:ln w="10160">
            <a:solidFill>
              <a:srgbClr val="E4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59935" y="3954780"/>
            <a:ext cx="1115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5641"/>
                </a:solidFill>
                <a:latin typeface="Consolas"/>
              </a:rPr>
              <a:t>ON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51713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687A72"/>
                </a:solidFill>
                <a:latin typeface="Consolas"/>
              </a:rPr>
              <a:t>LOCATION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82803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342D"/>
                </a:solidFill>
                <a:latin typeface="Aptos"/>
              </a:rPr>
              <a:t>Browser GPS or manual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" y="5431536"/>
            <a:ext cx="5907024" cy="411480"/>
          </a:xfrm>
          <a:prstGeom prst="roundRect">
            <a:avLst>
              <a:gd name="adj" fmla="val 6000"/>
            </a:avLst>
          </a:prstGeom>
          <a:solidFill>
            <a:srgbClr val="3677F5"/>
          </a:solidFill>
          <a:ln w="1016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5527548"/>
            <a:ext cx="5724144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onsolas"/>
              </a:rPr>
              <a:t>UPDATE BUS 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2130552"/>
            <a:ext cx="3383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8F06A"/>
                </a:solidFill>
                <a:latin typeface="Consolas"/>
              </a:rPr>
              <a:t>THE UPDATE LOOP</a:t>
            </a:r>
          </a:p>
        </p:txBody>
      </p:sp>
      <p:sp>
        <p:nvSpPr>
          <p:cNvPr id="23" name="Oval 22"/>
          <p:cNvSpPr/>
          <p:nvPr/>
        </p:nvSpPr>
        <p:spPr>
          <a:xfrm>
            <a:off x="7808975" y="2670048"/>
            <a:ext cx="347472" cy="347472"/>
          </a:xfrm>
          <a:prstGeom prst="ellipse">
            <a:avLst/>
          </a:prstGeom>
          <a:solidFill>
            <a:srgbClr val="D8F06A"/>
          </a:solidFill>
          <a:ln w="1270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08975" y="274320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02A24"/>
                </a:solidFill>
                <a:latin typeface="Consola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6700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F5F6EF"/>
                </a:solidFill>
                <a:latin typeface="Aptos"/>
              </a:rPr>
              <a:t>Driver posts GPS /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1752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C8BF"/>
                </a:solidFill>
                <a:latin typeface="Aptos"/>
              </a:rPr>
              <a:t>PIN-guarded API write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82712" y="3044952"/>
            <a:ext cx="0" cy="466344"/>
          </a:xfrm>
          <a:prstGeom prst="line">
            <a:avLst/>
          </a:prstGeom>
          <a:ln w="17780">
            <a:solidFill>
              <a:srgbClr val="4364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808975" y="3584448"/>
            <a:ext cx="347472" cy="347472"/>
          </a:xfrm>
          <a:prstGeom prst="ellipse">
            <a:avLst/>
          </a:prstGeom>
          <a:solidFill>
            <a:srgbClr val="3677F5"/>
          </a:solidFill>
          <a:ln w="127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08975" y="365760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02A24"/>
                </a:solidFill>
                <a:latin typeface="Consola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5844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F5F6EF"/>
                </a:solidFill>
                <a:latin typeface="Aptos"/>
              </a:rPr>
              <a:t>Flask persists the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93192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C8BF"/>
                </a:solidFill>
                <a:latin typeface="Aptos"/>
              </a:rPr>
              <a:t>SQLite record + timestamp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82712" y="3959352"/>
            <a:ext cx="0" cy="466344"/>
          </a:xfrm>
          <a:prstGeom prst="line">
            <a:avLst/>
          </a:prstGeom>
          <a:ln w="17780">
            <a:solidFill>
              <a:srgbClr val="4364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808975" y="4498848"/>
            <a:ext cx="347472" cy="347472"/>
          </a:xfrm>
          <a:prstGeom prst="ellipse">
            <a:avLst/>
          </a:prstGeom>
          <a:solidFill>
            <a:srgbClr val="E96C50"/>
          </a:solidFill>
          <a:ln w="12700">
            <a:solidFill>
              <a:srgbClr val="E96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08975" y="4572000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02A24"/>
                </a:solidFill>
                <a:latin typeface="Consola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4988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F5F6EF"/>
                </a:solidFill>
                <a:latin typeface="Aptos"/>
              </a:rPr>
              <a:t>Map refreshes every 10 sec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84632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B8C8BF"/>
                </a:solidFill>
                <a:latin typeface="Aptos"/>
              </a:rPr>
              <a:t>No overlapping poll requests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90688" y="5541264"/>
            <a:ext cx="3593592" cy="566928"/>
          </a:xfrm>
          <a:prstGeom prst="rect">
            <a:avLst/>
          </a:prstGeom>
          <a:solidFill>
            <a:srgbClr val="392E29"/>
          </a:solidFill>
          <a:ln w="10160">
            <a:solidFill>
              <a:srgbClr val="6948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73568" y="564184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C4A8"/>
                </a:solidFill>
                <a:latin typeface="Aptos"/>
              </a:rPr>
              <a:t>PIN is a demo safeguard, not production authentication.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35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3887F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3887F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CODECRAFT  /  DHSGU TRANSIT      05  /  AI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42D"/>
                </a:solidFill>
                <a:latin typeface="Bahnschrift SemiBold"/>
              </a:rPr>
              <a:t>Helpful answers, with a graceful offline mode.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Gemini is optional; verified context and explicit data boundaries keep answers grounded.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56816"/>
            <a:ext cx="4700016" cy="4242816"/>
          </a:xfrm>
          <a:prstGeom prst="rect">
            <a:avLst/>
          </a:prstGeom>
          <a:solidFill>
            <a:srgbClr val="102A24"/>
          </a:solidFill>
          <a:ln w="10160">
            <a:solidFill>
              <a:srgbClr val="10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22199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D8F06A"/>
                </a:solidFill>
                <a:latin typeface="Consolas"/>
              </a:rPr>
              <a:t>DHSGU TRANSIT &amp; SAFETY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2724912"/>
            <a:ext cx="3977639" cy="603504"/>
          </a:xfrm>
          <a:prstGeom prst="roundRect">
            <a:avLst>
              <a:gd name="adj" fmla="val 6000"/>
            </a:avLst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288036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6EF"/>
                </a:solidFill>
                <a:latin typeface="Aptos"/>
              </a:rPr>
              <a:t>Where is the Valley Campus?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566160"/>
            <a:ext cx="3630168" cy="1152144"/>
          </a:xfrm>
          <a:prstGeom prst="roundRect">
            <a:avLst>
              <a:gd name="adj" fmla="val 6000"/>
            </a:avLst>
          </a:prstGeom>
          <a:solidFill>
            <a:srgbClr val="F5F6EF"/>
          </a:solidFill>
          <a:ln w="10160">
            <a:solidFill>
              <a:srgbClr val="F5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4752" y="3749039"/>
            <a:ext cx="3200400" cy="850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8342D"/>
                </a:solidFill>
                <a:latin typeface="Aptos"/>
              </a:rPr>
              <a:t>Valley Campus is listed in Places. Its map coordinates are demo data, so I can't provide official directions.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5065776"/>
            <a:ext cx="3977639" cy="621792"/>
          </a:xfrm>
          <a:prstGeom prst="roundRect">
            <a:avLst>
              <a:gd name="adj" fmla="val 6000"/>
            </a:avLst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5276088"/>
            <a:ext cx="146304" cy="146304"/>
          </a:xfrm>
          <a:prstGeom prst="ellipse">
            <a:avLst/>
          </a:prstGeom>
          <a:solidFill>
            <a:srgbClr val="D8F06A"/>
          </a:solidFill>
          <a:ln w="1270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5257800"/>
            <a:ext cx="329184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DBE5DE"/>
                </a:solidFill>
                <a:latin typeface="Consolas"/>
              </a:rPr>
              <a:t>ONLINE  ·  CONTEXT-AWARE  ·  CAVEATED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148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A SMALL, DELIBERATE ANSWER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651760"/>
            <a:ext cx="53766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2651760"/>
            <a:ext cx="91440" cy="658368"/>
          </a:xfrm>
          <a:prstGeom prst="rect">
            <a:avLst/>
          </a:prstGeom>
          <a:solidFill>
            <a:srgbClr val="3677F5"/>
          </a:solidFill>
          <a:ln w="1016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2752344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3677F5"/>
                </a:solidFill>
                <a:latin typeface="Consolas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798064"/>
            <a:ext cx="35844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8342D"/>
                </a:solidFill>
                <a:latin typeface="Aptos"/>
              </a:rPr>
              <a:t>Natural-language prompt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3319272"/>
            <a:ext cx="0" cy="164592"/>
          </a:xfrm>
          <a:prstGeom prst="line">
            <a:avLst/>
          </a:prstGeom>
          <a:ln w="1524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806440" y="3520439"/>
            <a:ext cx="53766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06440" y="3520439"/>
            <a:ext cx="91440" cy="658368"/>
          </a:xfrm>
          <a:prstGeom prst="rect">
            <a:avLst/>
          </a:prstGeom>
          <a:solidFill>
            <a:srgbClr val="245641"/>
          </a:solidFill>
          <a:ln w="1016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3621023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45641"/>
                </a:solidFill>
                <a:latin typeface="Consolas"/>
              </a:rPr>
              <a:t>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666744"/>
            <a:ext cx="35844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8342D"/>
                </a:solidFill>
                <a:latin typeface="Aptos"/>
              </a:rPr>
              <a:t>University facts · places · active alerts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4187952"/>
            <a:ext cx="0" cy="164592"/>
          </a:xfrm>
          <a:prstGeom prst="line">
            <a:avLst/>
          </a:prstGeom>
          <a:ln w="1524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806440" y="4389120"/>
            <a:ext cx="5376672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06440" y="4389120"/>
            <a:ext cx="91440" cy="658368"/>
          </a:xfrm>
          <a:prstGeom prst="rect">
            <a:avLst/>
          </a:prstGeom>
          <a:solidFill>
            <a:srgbClr val="E96C50"/>
          </a:solidFill>
          <a:ln w="10160">
            <a:solidFill>
              <a:srgbClr val="E96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4489704"/>
            <a:ext cx="107899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E96C50"/>
                </a:solidFill>
                <a:latin typeface="Consolas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535424"/>
            <a:ext cx="358444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8342D"/>
                </a:solidFill>
                <a:latin typeface="Aptos"/>
              </a:rPr>
              <a:t>Gemini response, constrained by known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5477256"/>
            <a:ext cx="5376672" cy="621792"/>
          </a:xfrm>
          <a:prstGeom prst="rect">
            <a:avLst/>
          </a:prstGeom>
          <a:solidFill>
            <a:srgbClr val="E9F0FF"/>
          </a:solidFill>
          <a:ln w="10160">
            <a:solidFill>
              <a:srgbClr val="D3D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16752" y="5586984"/>
            <a:ext cx="49651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94B83"/>
                </a:solidFill>
                <a:latin typeface="Aptos"/>
              </a:rPr>
              <a:t>No API key or provider failure  →  curated offline reply; the app stays usable.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9890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9890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CODECRAFT  /  DHSGU TRANSIT      06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42D"/>
                </a:solidFill>
                <a:latin typeface="Bahnschrift SemiBold"/>
              </a:rPr>
              <a:t>A compact stack with clean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Browser UI, JSON API, local relational persistence and two external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327355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2084831"/>
            <a:ext cx="3273552" cy="448056"/>
          </a:xfrm>
          <a:prstGeom prst="rect">
            <a:avLst/>
          </a:prstGeom>
          <a:solidFill>
            <a:srgbClr val="245641"/>
          </a:solidFill>
          <a:ln w="1016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2221991"/>
            <a:ext cx="28712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Consolas"/>
              </a:rPr>
              <a:t>01  / 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7063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342D"/>
                </a:solidFill>
                <a:latin typeface="Aptos"/>
              </a:rPr>
              <a:t>React 19  · 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127248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342D"/>
                </a:solidFill>
                <a:latin typeface="Aptos"/>
              </a:rPr>
              <a:t>React Router  ·  Axios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483863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342D"/>
                </a:solidFill>
                <a:latin typeface="Aptos"/>
              </a:rPr>
              <a:t>Leaflet  ·  OpenStreetMap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8" y="3858768"/>
            <a:ext cx="2816352" cy="0"/>
          </a:xfrm>
          <a:prstGeom prst="line">
            <a:avLst/>
          </a:prstGeom>
          <a:ln w="889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5528" y="3977639"/>
            <a:ext cx="281635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5641"/>
                </a:solidFill>
                <a:latin typeface="Consolas"/>
              </a:rPr>
              <a:t>Vercel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2084831"/>
            <a:ext cx="327355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53128" y="2084831"/>
            <a:ext cx="3273552" cy="448056"/>
          </a:xfrm>
          <a:prstGeom prst="rect">
            <a:avLst/>
          </a:prstGeom>
          <a:solidFill>
            <a:srgbClr val="3677F5"/>
          </a:solidFill>
          <a:ln w="1016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54296" y="2221991"/>
            <a:ext cx="28712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Consolas"/>
              </a:rPr>
              <a:t>02  / 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77063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342D"/>
                </a:solidFill>
                <a:latin typeface="Aptos"/>
              </a:rPr>
              <a:t>Flask REST  ·  Flask-CORS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127248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342D"/>
                </a:solidFill>
                <a:latin typeface="Aptos"/>
              </a:rPr>
              <a:t>SQLite  ·  shared DB helper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483863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342D"/>
                </a:solidFill>
                <a:latin typeface="Aptos"/>
              </a:rPr>
              <a:t>Gunicorn on Linux host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81728" y="3858768"/>
            <a:ext cx="2816351" cy="0"/>
          </a:xfrm>
          <a:prstGeom prst="line">
            <a:avLst/>
          </a:prstGeom>
          <a:ln w="889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81728" y="3977639"/>
            <a:ext cx="281635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3677F5"/>
                </a:solidFill>
                <a:latin typeface="Consolas"/>
              </a:rPr>
              <a:t>Render / Railway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7" y="2084831"/>
            <a:ext cx="3273552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39327" y="2084831"/>
            <a:ext cx="3273552" cy="448056"/>
          </a:xfrm>
          <a:prstGeom prst="rect">
            <a:avLst/>
          </a:prstGeom>
          <a:solidFill>
            <a:srgbClr val="E96C50"/>
          </a:solidFill>
          <a:ln w="10160">
            <a:solidFill>
              <a:srgbClr val="E96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0496" y="2221991"/>
            <a:ext cx="28712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Consolas"/>
              </a:rPr>
              <a:t>03  / 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2770632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8342D"/>
                </a:solidFill>
                <a:latin typeface="Aptos"/>
              </a:rPr>
              <a:t>OSRM  ·  road geometry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3127248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342D"/>
                </a:solidFill>
                <a:latin typeface="Aptos"/>
              </a:rPr>
              <a:t>Gemini  ·  optional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7928" y="3483863"/>
            <a:ext cx="2816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8342D"/>
                </a:solidFill>
                <a:latin typeface="Aptos"/>
              </a:rPr>
              <a:t>Browser GPS  ·  driver input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67928" y="3858768"/>
            <a:ext cx="2816352" cy="0"/>
          </a:xfrm>
          <a:prstGeom prst="line">
            <a:avLst/>
          </a:prstGeom>
          <a:ln w="889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67928" y="3977639"/>
            <a:ext cx="281635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96C50"/>
                </a:solidFill>
                <a:latin typeface="Consolas"/>
              </a:rPr>
              <a:t>External / client APIs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58768" y="3182112"/>
            <a:ext cx="512064" cy="0"/>
          </a:xfrm>
          <a:prstGeom prst="line">
            <a:avLst/>
          </a:prstGeom>
          <a:ln w="21590">
            <a:solidFill>
              <a:srgbClr val="6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25112" y="3118104"/>
            <a:ext cx="128016" cy="128016"/>
          </a:xfrm>
          <a:prstGeom prst="ellipse">
            <a:avLst/>
          </a:prstGeom>
          <a:solidFill>
            <a:srgbClr val="687A72"/>
          </a:solidFill>
          <a:ln w="12700">
            <a:solidFill>
              <a:srgbClr val="68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7744968" y="3182112"/>
            <a:ext cx="512063" cy="0"/>
          </a:xfrm>
          <a:prstGeom prst="line">
            <a:avLst/>
          </a:prstGeom>
          <a:ln w="21590">
            <a:solidFill>
              <a:srgbClr val="6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11311" y="3118104"/>
            <a:ext cx="128016" cy="128016"/>
          </a:xfrm>
          <a:prstGeom prst="ellipse">
            <a:avLst/>
          </a:prstGeom>
          <a:solidFill>
            <a:srgbClr val="687A72"/>
          </a:solidFill>
          <a:ln w="12700">
            <a:solidFill>
              <a:srgbClr val="687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4727448"/>
            <a:ext cx="10917936" cy="1225296"/>
          </a:xfrm>
          <a:prstGeom prst="rect">
            <a:avLst/>
          </a:prstGeom>
          <a:solidFill>
            <a:srgbClr val="E9EFE8"/>
          </a:solidFill>
          <a:ln w="10160">
            <a:solidFill>
              <a:srgbClr val="E9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" y="4956048"/>
            <a:ext cx="20574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RELEASE REALITY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71216" y="4919472"/>
            <a:ext cx="817473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8342D"/>
                </a:solidFill>
                <a:latin typeface="Aptos"/>
              </a:rPr>
              <a:t>Source is in GitHub; Vercel and Render/Railway are documented deployment targets.
No checked-in GitHub Actions / CI workflow is present in this repository.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15000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87A72"/>
                </a:solidFill>
                <a:latin typeface="Aptos"/>
              </a:rPr>
              <a:t>SQLite is suitable for the demo; durable production hosting needs persistent storage or a managed database.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9890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9890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CODECRAFT  /  DHSGU TRANSIT      07  / 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42D"/>
                </a:solidFill>
                <a:latin typeface="Bahnschrift SemiBold"/>
              </a:rPr>
              <a:t>The route should never take the scenic detour.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Sparse campus road data can make a valid-looking API response a bad rider experience.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11680"/>
            <a:ext cx="4800600" cy="352958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226771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E96C50"/>
                </a:solidFill>
                <a:latin typeface="Consolas"/>
              </a:rPr>
              <a:t>THE FAILURE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688336"/>
            <a:ext cx="4224528" cy="2258568"/>
          </a:xfrm>
          <a:prstGeom prst="rect">
            <a:avLst/>
          </a:prstGeom>
          <a:solidFill>
            <a:srgbClr val="EDF1E9"/>
          </a:solidFill>
          <a:ln w="10160">
            <a:solidFill>
              <a:srgbClr val="EDF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444752" y="2724912"/>
            <a:ext cx="237744" cy="2185416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911096" y="2724912"/>
            <a:ext cx="137160" cy="2185416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651760" y="2724912"/>
            <a:ext cx="237744" cy="2185416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118104" y="2724912"/>
            <a:ext cx="137160" cy="2185416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58768" y="2724912"/>
            <a:ext cx="237744" cy="2185416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325112" y="2724912"/>
            <a:ext cx="137160" cy="2185416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68680" y="2863595"/>
            <a:ext cx="4169664" cy="201169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" y="3441192"/>
            <a:ext cx="4169664" cy="10972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68680" y="3616451"/>
            <a:ext cx="4169664" cy="201169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68680" y="4194048"/>
            <a:ext cx="4169664" cy="10972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68680" y="4369308"/>
            <a:ext cx="4169664" cy="201168"/>
          </a:xfrm>
          <a:prstGeom prst="line">
            <a:avLst/>
          </a:prstGeom>
          <a:ln w="13970">
            <a:solidFill>
              <a:srgbClr val="D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474927" y="3004535"/>
            <a:ext cx="443575" cy="293613"/>
          </a:xfrm>
          <a:prstGeom prst="rect">
            <a:avLst/>
          </a:prstGeom>
          <a:solidFill>
            <a:srgbClr val="E3E9E0"/>
          </a:solidFill>
          <a:ln w="10160">
            <a:solidFill>
              <a:srgbClr val="E3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04323" y="4088648"/>
            <a:ext cx="443575" cy="293613"/>
          </a:xfrm>
          <a:prstGeom prst="rect">
            <a:avLst/>
          </a:prstGeom>
          <a:solidFill>
            <a:srgbClr val="E3E9E0"/>
          </a:solidFill>
          <a:ln w="10160">
            <a:solidFill>
              <a:srgbClr val="E3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33719" y="3004535"/>
            <a:ext cx="443575" cy="293613"/>
          </a:xfrm>
          <a:prstGeom prst="rect">
            <a:avLst/>
          </a:prstGeom>
          <a:solidFill>
            <a:srgbClr val="E3E9E0"/>
          </a:solidFill>
          <a:ln w="10160">
            <a:solidFill>
              <a:srgbClr val="E3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63115" y="4088648"/>
            <a:ext cx="443575" cy="293613"/>
          </a:xfrm>
          <a:prstGeom prst="rect">
            <a:avLst/>
          </a:prstGeom>
          <a:solidFill>
            <a:srgbClr val="E3E9E0"/>
          </a:solidFill>
          <a:ln w="10160">
            <a:solidFill>
              <a:srgbClr val="E3E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 flipV="1">
            <a:off x="1225296" y="3035808"/>
            <a:ext cx="649223" cy="1499616"/>
          </a:xfrm>
          <a:prstGeom prst="line">
            <a:avLst/>
          </a:prstGeom>
          <a:ln w="88900">
            <a:solidFill>
              <a:srgbClr val="F7B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25296" y="3035808"/>
            <a:ext cx="649223" cy="1499616"/>
          </a:xfrm>
          <a:prstGeom prst="line">
            <a:avLst/>
          </a:prstGeom>
          <a:ln w="38100">
            <a:solidFill>
              <a:srgbClr val="E96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74519" y="3035808"/>
            <a:ext cx="722377" cy="685800"/>
          </a:xfrm>
          <a:prstGeom prst="line">
            <a:avLst/>
          </a:prstGeom>
          <a:ln w="88900">
            <a:solidFill>
              <a:srgbClr val="F7B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74519" y="3035808"/>
            <a:ext cx="722377" cy="685800"/>
          </a:xfrm>
          <a:prstGeom prst="line">
            <a:avLst/>
          </a:prstGeom>
          <a:ln w="38100">
            <a:solidFill>
              <a:srgbClr val="E96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596896" y="2916936"/>
            <a:ext cx="612648" cy="804672"/>
          </a:xfrm>
          <a:prstGeom prst="line">
            <a:avLst/>
          </a:prstGeom>
          <a:ln w="88900">
            <a:solidFill>
              <a:srgbClr val="F7B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596896" y="2916936"/>
            <a:ext cx="612648" cy="804672"/>
          </a:xfrm>
          <a:prstGeom prst="line">
            <a:avLst/>
          </a:prstGeom>
          <a:ln w="38100">
            <a:solidFill>
              <a:srgbClr val="E96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09544" y="2916936"/>
            <a:ext cx="713232" cy="1207008"/>
          </a:xfrm>
          <a:prstGeom prst="line">
            <a:avLst/>
          </a:prstGeom>
          <a:ln w="88900">
            <a:solidFill>
              <a:srgbClr val="F7B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209544" y="2916936"/>
            <a:ext cx="713232" cy="1207008"/>
          </a:xfrm>
          <a:prstGeom prst="line">
            <a:avLst/>
          </a:prstGeom>
          <a:ln w="38100">
            <a:solidFill>
              <a:srgbClr val="E96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922776" y="2843784"/>
            <a:ext cx="740664" cy="1280160"/>
          </a:xfrm>
          <a:prstGeom prst="line">
            <a:avLst/>
          </a:prstGeom>
          <a:ln w="88900">
            <a:solidFill>
              <a:srgbClr val="F7B0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22776" y="2843784"/>
            <a:ext cx="740664" cy="1280160"/>
          </a:xfrm>
          <a:prstGeom prst="line">
            <a:avLst/>
          </a:prstGeom>
          <a:ln w="38100">
            <a:solidFill>
              <a:srgbClr val="E96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152144" y="4462272"/>
            <a:ext cx="146304" cy="146304"/>
          </a:xfrm>
          <a:prstGeom prst="ellipse">
            <a:avLst/>
          </a:prstGeom>
          <a:solidFill>
            <a:srgbClr val="E96C50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590288" y="2770632"/>
            <a:ext cx="146304" cy="146304"/>
          </a:xfrm>
          <a:prstGeom prst="ellipse">
            <a:avLst/>
          </a:prstGeom>
          <a:solidFill>
            <a:srgbClr val="E96C50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2688" y="51206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87A72"/>
                </a:solidFill>
                <a:latin typeface="Aptos"/>
              </a:rPr>
              <a:t>Incomplete paths  →  routing detours  →  misleading itinerary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2011680"/>
            <a:ext cx="5815584" cy="3529584"/>
          </a:xfrm>
          <a:prstGeom prst="rect">
            <a:avLst/>
          </a:prstGeom>
          <a:solidFill>
            <a:srgbClr val="102A24"/>
          </a:solidFill>
          <a:ln w="10160">
            <a:solidFill>
              <a:srgbClr val="102A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80176" y="2267712"/>
            <a:ext cx="2423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D8F06A"/>
                </a:solidFill>
                <a:latin typeface="Consolas"/>
              </a:rPr>
              <a:t>THE PER-SEGMENT GUARD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0176" y="2688336"/>
            <a:ext cx="2889504" cy="2258568"/>
          </a:xfrm>
          <a:prstGeom prst="rect">
            <a:avLst/>
          </a:prstGeom>
          <a:solidFill>
            <a:srgbClr val="1C3931"/>
          </a:solidFill>
          <a:ln w="10160">
            <a:solidFill>
              <a:srgbClr val="1C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6392962" y="2724912"/>
            <a:ext cx="237744" cy="218541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668588" y="2724912"/>
            <a:ext cx="137160" cy="218541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18534" y="2724912"/>
            <a:ext cx="237744" cy="218541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494161" y="2724912"/>
            <a:ext cx="137160" cy="218541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44107" y="2724912"/>
            <a:ext cx="237744" cy="218541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319733" y="2724912"/>
            <a:ext cx="137160" cy="2185416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007608" y="2863595"/>
            <a:ext cx="2834640" cy="201169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007608" y="3441192"/>
            <a:ext cx="2834640" cy="1097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007608" y="3616451"/>
            <a:ext cx="2834640" cy="201169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07608" y="4194048"/>
            <a:ext cx="2834640" cy="1097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007608" y="4369308"/>
            <a:ext cx="2834640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413601" y="3004535"/>
            <a:ext cx="303397" cy="293613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049292" y="4088648"/>
            <a:ext cx="303397" cy="293613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684983" y="3004535"/>
            <a:ext cx="303397" cy="293613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320674" y="4088648"/>
            <a:ext cx="303397" cy="293613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 flipV="1">
            <a:off x="6355080" y="3986784"/>
            <a:ext cx="539496" cy="576072"/>
          </a:xfrm>
          <a:prstGeom prst="line">
            <a:avLst/>
          </a:prstGeom>
          <a:ln w="107950">
            <a:solidFill>
              <a:srgbClr val="A8C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355080" y="3986784"/>
            <a:ext cx="539496" cy="576072"/>
          </a:xfrm>
          <a:prstGeom prst="line">
            <a:avLst/>
          </a:prstGeom>
          <a:ln w="5715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894576" y="3538728"/>
            <a:ext cx="521207" cy="448056"/>
          </a:xfrm>
          <a:prstGeom prst="line">
            <a:avLst/>
          </a:prstGeom>
          <a:ln w="107950">
            <a:solidFill>
              <a:srgbClr val="A8C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894576" y="3538728"/>
            <a:ext cx="521207" cy="448056"/>
          </a:xfrm>
          <a:prstGeom prst="line">
            <a:avLst/>
          </a:prstGeom>
          <a:ln w="5715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7415783" y="3072384"/>
            <a:ext cx="576073" cy="466344"/>
          </a:xfrm>
          <a:prstGeom prst="line">
            <a:avLst/>
          </a:prstGeom>
          <a:ln w="107950">
            <a:solidFill>
              <a:srgbClr val="A8C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415783" y="3072384"/>
            <a:ext cx="576073" cy="466344"/>
          </a:xfrm>
          <a:prstGeom prst="line">
            <a:avLst/>
          </a:prstGeom>
          <a:ln w="5715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991856" y="2834640"/>
            <a:ext cx="493776" cy="237744"/>
          </a:xfrm>
          <a:prstGeom prst="line">
            <a:avLst/>
          </a:prstGeom>
          <a:ln w="107950">
            <a:solidFill>
              <a:srgbClr val="A8C6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991856" y="2834640"/>
            <a:ext cx="493776" cy="237744"/>
          </a:xfrm>
          <a:prstGeom prst="line">
            <a:avLst/>
          </a:prstGeom>
          <a:ln w="5715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286500" y="4494276"/>
            <a:ext cx="137160" cy="137160"/>
          </a:xfrm>
          <a:prstGeom prst="ellipse">
            <a:avLst/>
          </a:prstGeom>
          <a:solidFill>
            <a:srgbClr val="245641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6825996" y="3918204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7347204" y="3470148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923276" y="3003803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8417052" y="2766060"/>
            <a:ext cx="137160" cy="137160"/>
          </a:xfrm>
          <a:prstGeom prst="ellipse">
            <a:avLst/>
          </a:prstGeom>
          <a:solidFill>
            <a:srgbClr val="E96C50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16568" y="2779776"/>
            <a:ext cx="199339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5F6EF"/>
                </a:solidFill>
                <a:latin typeface="Aptos"/>
              </a:rPr>
              <a:t>Accept road
segment if sane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16568" y="3721608"/>
            <a:ext cx="1993392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B8C8BF"/>
                </a:solidFill>
                <a:latin typeface="Aptos"/>
              </a:rPr>
              <a:t>Reject malformed, failed or overlong geometry.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16568" y="4572000"/>
            <a:ext cx="199339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D8F06A"/>
                </a:solidFill>
                <a:latin typeface="Aptos"/>
              </a:rPr>
              <a:t>Fallback: direct 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5724144"/>
            <a:ext cx="10917936" cy="502920"/>
          </a:xfrm>
          <a:prstGeom prst="rect">
            <a:avLst/>
          </a:prstGeom>
          <a:solidFill>
            <a:srgbClr val="FFF1D7"/>
          </a:solidFill>
          <a:ln w="10160">
            <a:solidFill>
              <a:srgbClr val="F0D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04672" y="5843016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45B29"/>
                </a:solidFill>
                <a:latin typeface="Consolas"/>
              </a:rPr>
              <a:t>Guardrail: road distance ≤ max(2.2 × direct distance, direct distance + 3 km); each segment is checked independently.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9890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9890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CODECRAFT  /  DHSGU TRANSIT      08  /  IMPACT &amp;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270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8342D"/>
                </a:solidFill>
                <a:latin typeface="Bahnschrift SemiBold"/>
              </a:rPr>
              <a:t>Make the next trip easier to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3533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87A72"/>
                </a:solidFill>
                <a:latin typeface="Aptos"/>
              </a:rPr>
              <a:t>The prototype targets practical gains; outcomes still need validation with DHSGU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57400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INTENDED CAMPUS IMPACT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542032"/>
            <a:ext cx="356616" cy="356616"/>
          </a:xfrm>
          <a:prstGeom prst="ellipse">
            <a:avLst/>
          </a:prstGeom>
          <a:solidFill>
            <a:srgbClr val="3677F5"/>
          </a:solidFill>
          <a:ln w="127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624327"/>
            <a:ext cx="35661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2532888"/>
            <a:ext cx="3429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342D"/>
                </a:solidFill>
                <a:latin typeface="Bahnschrift SemiBold"/>
              </a:rPr>
              <a:t>Less uncertainty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2852927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87A72"/>
                </a:solidFill>
                <a:latin typeface="Aptos"/>
              </a:rPr>
              <a:t>See bus position and route context before heading out.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364991"/>
            <a:ext cx="356616" cy="356616"/>
          </a:xfrm>
          <a:prstGeom prst="ellipse">
            <a:avLst/>
          </a:prstGeom>
          <a:solidFill>
            <a:srgbClr val="245641"/>
          </a:solidFill>
          <a:ln w="1270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447287"/>
            <a:ext cx="35661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3355848"/>
            <a:ext cx="3429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342D"/>
                </a:solidFill>
                <a:latin typeface="Bahnschrift SemiBold"/>
              </a:rPr>
              <a:t>Smoother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7864" y="3675887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87A72"/>
                </a:solidFill>
                <a:latin typeface="Aptos"/>
              </a:rPr>
              <a:t>A shared update and alert surface for the transit loop.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187952"/>
            <a:ext cx="356616" cy="356616"/>
          </a:xfrm>
          <a:prstGeom prst="ellipse">
            <a:avLst/>
          </a:prstGeom>
          <a:solidFill>
            <a:srgbClr val="E96C50"/>
          </a:solidFill>
          <a:ln w="12700">
            <a:solidFill>
              <a:srgbClr val="E96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270248"/>
            <a:ext cx="35661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7864" y="4178808"/>
            <a:ext cx="3429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8342D"/>
                </a:solidFill>
                <a:latin typeface="Bahnschrift SemiBold"/>
              </a:rPr>
              <a:t>Easier orientation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4498848"/>
            <a:ext cx="373075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687A72"/>
                </a:solidFill>
                <a:latin typeface="Aptos"/>
              </a:rPr>
              <a:t>Give newcomers a map-first way into campus places.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41264" y="2148840"/>
            <a:ext cx="0" cy="3694176"/>
          </a:xfrm>
          <a:prstGeom prst="line">
            <a:avLst/>
          </a:prstGeom>
          <a:ln w="12700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16752" y="205740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5641"/>
                </a:solidFill>
                <a:latin typeface="Consolas"/>
              </a:rPr>
              <a:t>A RESPONSIBLE ROADMAP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560320"/>
            <a:ext cx="859536" cy="256032"/>
          </a:xfrm>
          <a:prstGeom prst="roundRect">
            <a:avLst>
              <a:gd name="adj" fmla="val 6000"/>
            </a:avLst>
          </a:prstGeom>
          <a:solidFill>
            <a:srgbClr val="F0B94F"/>
          </a:solidFill>
          <a:ln w="10160">
            <a:solidFill>
              <a:srgbClr val="F0B9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17336" y="2601468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02A24"/>
                </a:solidFill>
                <a:latin typeface="Consolas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583179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8342D"/>
                </a:solidFill>
                <a:latin typeface="Aptos"/>
              </a:rPr>
              <a:t>Verify stops, routes &amp; timetables with the university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310127"/>
            <a:ext cx="859536" cy="256032"/>
          </a:xfrm>
          <a:prstGeom prst="roundRect">
            <a:avLst>
              <a:gd name="adj" fmla="val 6000"/>
            </a:avLst>
          </a:prstGeom>
          <a:solidFill>
            <a:srgbClr val="3677F5"/>
          </a:solidFill>
          <a:ln w="1016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17336" y="3351275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Consolas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3332987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8342D"/>
                </a:solidFill>
                <a:latin typeface="Aptos"/>
              </a:rPr>
              <a:t>Production identity, role controls &amp; durable 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059935"/>
            <a:ext cx="859536" cy="256032"/>
          </a:xfrm>
          <a:prstGeom prst="roundRect">
            <a:avLst>
              <a:gd name="adj" fmla="val 6000"/>
            </a:avLst>
          </a:prstGeom>
          <a:solidFill>
            <a:srgbClr val="E96C50"/>
          </a:solidFill>
          <a:ln w="10160">
            <a:solidFill>
              <a:srgbClr val="E96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17336" y="4101083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02A24"/>
                </a:solidFill>
                <a:latin typeface="Consolas"/>
              </a:rPr>
              <a:t>LATER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082796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8342D"/>
                </a:solidFill>
                <a:latin typeface="Aptos"/>
              </a:rPr>
              <a:t>Multi-bus fleet &amp; demand-aware ETA prediction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809744"/>
            <a:ext cx="859536" cy="256032"/>
          </a:xfrm>
          <a:prstGeom prst="roundRect">
            <a:avLst>
              <a:gd name="adj" fmla="val 6000"/>
            </a:avLst>
          </a:prstGeom>
          <a:solidFill>
            <a:srgbClr val="245641"/>
          </a:solidFill>
          <a:ln w="10160">
            <a:solidFill>
              <a:srgbClr val="245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17336" y="4850892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02A24"/>
                </a:solidFill>
                <a:latin typeface="Consolas"/>
              </a:rPr>
              <a:t>EXPLORE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832604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8342D"/>
                </a:solidFill>
                <a:latin typeface="Aptos"/>
              </a:rPr>
              <a:t>University ID integration, subject to approval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650992"/>
            <a:ext cx="10917936" cy="502920"/>
          </a:xfrm>
          <a:prstGeom prst="rect">
            <a:avLst/>
          </a:prstGeom>
          <a:solidFill>
            <a:srgbClr val="18342D"/>
          </a:solidFill>
          <a:ln w="10160">
            <a:solidFill>
              <a:srgbClr val="18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" y="5779008"/>
            <a:ext cx="10332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F6EF"/>
                </a:solidFill>
                <a:latin typeface="Aptos"/>
              </a:rPr>
              <a:t>Success measure: user-tested wait-time confidence, route accuracy and update reliability.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D9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8A9890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9890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75488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8F06A"/>
                </a:solidFill>
                <a:latin typeface="Consolas"/>
              </a:rPr>
              <a:t>CODECRAFT CHALLENGE     /   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16152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8C8BF"/>
                </a:solidFill>
                <a:latin typeface="Consolas"/>
              </a:rPr>
              <a:t>DHSGU CAMPUS BUS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47088"/>
            <a:ext cx="5943600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6EF"/>
                </a:solidFill>
                <a:latin typeface="Bahnschrift SemiBold"/>
              </a:rPr>
              <a:t>See the route.
Know the campus.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73552"/>
            <a:ext cx="539496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BE5DE"/>
                </a:solidFill>
                <a:latin typeface="Aptos"/>
              </a:rPr>
              <a:t>A resilient transit prototype, built for DHSGU, with a clear path to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617720"/>
            <a:ext cx="5349240" cy="722376"/>
          </a:xfrm>
          <a:prstGeom prst="rect">
            <a:avLst/>
          </a:prstGeom>
          <a:solidFill>
            <a:srgbClr val="D8F06A"/>
          </a:solidFill>
          <a:ln w="1016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4800600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A24"/>
                </a:solidFill>
                <a:latin typeface="Bahnschrift SemiBold"/>
              </a:rPr>
              <a:t>Thank you. Ready for live demo and technical Q&amp;A.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475488"/>
            <a:ext cx="4892040" cy="5669280"/>
          </a:xfrm>
          <a:prstGeom prst="rect">
            <a:avLst/>
          </a:prstGeom>
          <a:solidFill>
            <a:srgbClr val="1C3931"/>
          </a:solidFill>
          <a:ln w="10160">
            <a:solidFill>
              <a:srgbClr val="1C3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373982" y="512064"/>
            <a:ext cx="237744" cy="55961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935685" y="512064"/>
            <a:ext cx="137160" cy="55961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1708" y="512064"/>
            <a:ext cx="237744" cy="55961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333411" y="512064"/>
            <a:ext cx="137160" cy="55961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69434" y="512064"/>
            <a:ext cx="237744" cy="55961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731137" y="512064"/>
            <a:ext cx="137160" cy="55961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702552" y="1219200"/>
            <a:ext cx="4837176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02552" y="2365248"/>
            <a:ext cx="4837176" cy="1097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702552" y="3108960"/>
            <a:ext cx="4837176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02552" y="4255008"/>
            <a:ext cx="4837176" cy="10972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702552" y="4998720"/>
            <a:ext cx="4837176" cy="201168"/>
          </a:xfrm>
          <a:prstGeom prst="line">
            <a:avLst/>
          </a:prstGeom>
          <a:ln w="13970">
            <a:solidFill>
              <a:srgbClr val="365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408925" y="1269187"/>
            <a:ext cx="513664" cy="737006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85174" y="3990441"/>
            <a:ext cx="513664" cy="737006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61423" y="1269187"/>
            <a:ext cx="513664" cy="737006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637672" y="3990441"/>
            <a:ext cx="513664" cy="737006"/>
          </a:xfrm>
          <a:prstGeom prst="rect">
            <a:avLst/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V="1">
            <a:off x="7150608" y="4526280"/>
            <a:ext cx="640080" cy="822960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50608" y="4526280"/>
            <a:ext cx="640080" cy="822960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333488" y="3721608"/>
            <a:ext cx="457200" cy="804672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7333488" y="3721608"/>
            <a:ext cx="457200" cy="804672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333488" y="3319272"/>
            <a:ext cx="832104" cy="402336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333488" y="3319272"/>
            <a:ext cx="832104" cy="402336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65592" y="3319272"/>
            <a:ext cx="978408" cy="338328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65592" y="3319272"/>
            <a:ext cx="978408" cy="338328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144000" y="2569464"/>
            <a:ext cx="758952" cy="1088136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144000" y="2569464"/>
            <a:ext cx="758952" cy="1088136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902952" y="1874519"/>
            <a:ext cx="1106424" cy="694945"/>
          </a:xfrm>
          <a:prstGeom prst="line">
            <a:avLst/>
          </a:prstGeom>
          <a:ln w="127000">
            <a:solidFill>
              <a:srgbClr val="9DE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902952" y="1874519"/>
            <a:ext cx="1106424" cy="694945"/>
          </a:xfrm>
          <a:prstGeom prst="line">
            <a:avLst/>
          </a:prstGeom>
          <a:ln w="76200">
            <a:solidFill>
              <a:srgbClr val="D8F0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082028" y="5280659"/>
            <a:ext cx="137160" cy="137160"/>
          </a:xfrm>
          <a:prstGeom prst="ellipse">
            <a:avLst/>
          </a:prstGeom>
          <a:solidFill>
            <a:srgbClr val="245641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722108" y="4457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264907" y="3653028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097012" y="3250691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075420" y="358902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834372" y="2500884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940796" y="1805939"/>
            <a:ext cx="137160" cy="137160"/>
          </a:xfrm>
          <a:prstGeom prst="ellipse">
            <a:avLst/>
          </a:prstGeom>
          <a:solidFill>
            <a:srgbClr val="E96C50"/>
          </a:solidFill>
          <a:ln w="25400">
            <a:solidFill>
              <a:srgbClr val="367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045452" y="5244083"/>
            <a:ext cx="210312" cy="210312"/>
          </a:xfrm>
          <a:prstGeom prst="ellipse">
            <a:avLst/>
          </a:prstGeom>
          <a:solidFill>
            <a:srgbClr val="102A24"/>
          </a:solidFill>
          <a:ln w="1651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86600" y="5289803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5F6EF"/>
                </a:solidFill>
                <a:latin typeface="Consolas"/>
              </a:rPr>
              <a:t>1</a:t>
            </a:r>
          </a:p>
        </p:txBody>
      </p:sp>
      <p:sp>
        <p:nvSpPr>
          <p:cNvPr id="45" name="Oval 44"/>
          <p:cNvSpPr/>
          <p:nvPr/>
        </p:nvSpPr>
        <p:spPr>
          <a:xfrm>
            <a:off x="7685531" y="4421124"/>
            <a:ext cx="210312" cy="210312"/>
          </a:xfrm>
          <a:prstGeom prst="ellipse">
            <a:avLst/>
          </a:prstGeom>
          <a:solidFill>
            <a:srgbClr val="102A24"/>
          </a:solidFill>
          <a:ln w="1651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26679" y="4466844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5F6EF"/>
                </a:solidFill>
                <a:latin typeface="Consolas"/>
              </a:rPr>
              <a:t>2</a:t>
            </a:r>
          </a:p>
        </p:txBody>
      </p:sp>
      <p:sp>
        <p:nvSpPr>
          <p:cNvPr id="47" name="Oval 46"/>
          <p:cNvSpPr/>
          <p:nvPr/>
        </p:nvSpPr>
        <p:spPr>
          <a:xfrm>
            <a:off x="7228331" y="3616452"/>
            <a:ext cx="210312" cy="210312"/>
          </a:xfrm>
          <a:prstGeom prst="ellipse">
            <a:avLst/>
          </a:prstGeom>
          <a:solidFill>
            <a:srgbClr val="102A24"/>
          </a:solidFill>
          <a:ln w="1651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269479" y="3662172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5F6EF"/>
                </a:solidFill>
                <a:latin typeface="Consolas"/>
              </a:rPr>
              <a:t>3</a:t>
            </a:r>
          </a:p>
        </p:txBody>
      </p:sp>
      <p:sp>
        <p:nvSpPr>
          <p:cNvPr id="49" name="Oval 48"/>
          <p:cNvSpPr/>
          <p:nvPr/>
        </p:nvSpPr>
        <p:spPr>
          <a:xfrm>
            <a:off x="8060436" y="3214115"/>
            <a:ext cx="210312" cy="210312"/>
          </a:xfrm>
          <a:prstGeom prst="ellipse">
            <a:avLst/>
          </a:prstGeom>
          <a:solidFill>
            <a:srgbClr val="102A24"/>
          </a:solidFill>
          <a:ln w="1651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01583" y="3259836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5F6EF"/>
                </a:solidFill>
                <a:latin typeface="Consolas"/>
              </a:rPr>
              <a:t>4</a:t>
            </a:r>
          </a:p>
        </p:txBody>
      </p:sp>
      <p:sp>
        <p:nvSpPr>
          <p:cNvPr id="51" name="Oval 50"/>
          <p:cNvSpPr/>
          <p:nvPr/>
        </p:nvSpPr>
        <p:spPr>
          <a:xfrm>
            <a:off x="9038844" y="3552444"/>
            <a:ext cx="210312" cy="210312"/>
          </a:xfrm>
          <a:prstGeom prst="ellipse">
            <a:avLst/>
          </a:prstGeom>
          <a:solidFill>
            <a:srgbClr val="102A24"/>
          </a:solidFill>
          <a:ln w="1651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79992" y="3598164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5F6EF"/>
                </a:solidFill>
                <a:latin typeface="Consolas"/>
              </a:rPr>
              <a:t>5</a:t>
            </a:r>
          </a:p>
        </p:txBody>
      </p:sp>
      <p:sp>
        <p:nvSpPr>
          <p:cNvPr id="53" name="Oval 52"/>
          <p:cNvSpPr/>
          <p:nvPr/>
        </p:nvSpPr>
        <p:spPr>
          <a:xfrm>
            <a:off x="9797796" y="2464308"/>
            <a:ext cx="210312" cy="210312"/>
          </a:xfrm>
          <a:prstGeom prst="ellipse">
            <a:avLst/>
          </a:prstGeom>
          <a:solidFill>
            <a:srgbClr val="102A24"/>
          </a:solidFill>
          <a:ln w="1651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38944" y="2510028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5F6EF"/>
                </a:solidFill>
                <a:latin typeface="Consolas"/>
              </a:rPr>
              <a:t>6</a:t>
            </a:r>
          </a:p>
        </p:txBody>
      </p:sp>
      <p:sp>
        <p:nvSpPr>
          <p:cNvPr id="55" name="Oval 54"/>
          <p:cNvSpPr/>
          <p:nvPr/>
        </p:nvSpPr>
        <p:spPr>
          <a:xfrm>
            <a:off x="10904219" y="1769363"/>
            <a:ext cx="210312" cy="210312"/>
          </a:xfrm>
          <a:prstGeom prst="ellipse">
            <a:avLst/>
          </a:prstGeom>
          <a:solidFill>
            <a:srgbClr val="102A24"/>
          </a:solidFill>
          <a:ln w="16510">
            <a:solidFill>
              <a:srgbClr val="D8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945367" y="1815084"/>
            <a:ext cx="12801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F5F6EF"/>
                </a:solidFill>
                <a:latin typeface="Consolas"/>
              </a:rPr>
              <a:t>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8" y="5769864"/>
            <a:ext cx="1554480" cy="256032"/>
          </a:xfrm>
          <a:prstGeom prst="roundRect">
            <a:avLst>
              <a:gd name="adj" fmla="val 6000"/>
            </a:avLst>
          </a:prstGeom>
          <a:solidFill>
            <a:srgbClr val="28483E"/>
          </a:solidFill>
          <a:ln w="10160">
            <a:solidFill>
              <a:srgbClr val="28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2103" y="5811012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5F6EF"/>
                </a:solidFill>
                <a:latin typeface="Consolas"/>
              </a:rPr>
              <a:t>Suvam  /  BCA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255">
            <a:solidFill>
              <a:srgbClr val="3553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85216" y="6547104"/>
            <a:ext cx="5943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3887F"/>
                </a:solidFill>
                <a:latin typeface="Consolas"/>
              </a:rPr>
              <a:t>DHSGU CAMPUS BUS TRACKER  ·  CODECRAFT CHALLENGE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27664" y="6519672"/>
            <a:ext cx="5486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3887F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1033</Words>
  <Application>Microsoft Office PowerPoint</Application>
  <PresentationFormat>Widescreen</PresentationFormat>
  <Paragraphs>188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Bahnschrift SemiBold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DHSGU Campus Bus Tracker | CodeCraft Challenge</dc:title>
  <dc:subject>Real-time transit and AI navigation for Dr. Harisingh Gour University</dc:subject>
  <dc:creator>Suvam</dc:creator>
  <cp:keywords>DHSGU, campus transit, CodeCraft, bus tracking</cp:keywords>
  <dc:description>generated using python-pptx</dc:description>
  <cp:lastModifiedBy>Suvam Suryakanta Nayak</cp:lastModifiedBy>
  <cp:revision>2</cp:revision>
  <dcterms:created xsi:type="dcterms:W3CDTF">2013-01-27T09:14:16Z</dcterms:created>
  <dcterms:modified xsi:type="dcterms:W3CDTF">2026-10-04T16:38:07Z</dcterms:modified>
  <cp:category/>
</cp:coreProperties>
</file>